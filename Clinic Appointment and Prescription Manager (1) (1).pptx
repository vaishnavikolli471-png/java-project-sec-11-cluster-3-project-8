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3" r:id="rId7"/>
    <p:sldId id="261" r:id="rId8"/>
    <p:sldId id="262" r:id="rId9"/>
    <p:sldId id="264" r:id="rId10"/>
    <p:sldId id="265" r:id="rId11"/>
  </p:sldIdLst>
  <p:sldSz cx="18288000" cy="10287000"/>
  <p:notesSz cx="6858000" cy="9144000"/>
  <p:embeddedFontLst>
    <p:embeddedFont>
      <p:font typeface="Helvetica World" panose="020B0604020202020204" charset="-128"/>
      <p:regular r:id="rId12"/>
    </p:embeddedFont>
    <p:embeddedFont>
      <p:font typeface="Helvetica World Bold" panose="020B0604020202020204" charset="-128"/>
      <p:regular r:id="rId13"/>
    </p:embeddedFont>
    <p:embeddedFont>
      <p:font typeface="Arial Black" panose="020B0A04020102020204" pitchFamily="34" charset="0"/>
      <p:bold r:id="rId14"/>
    </p:embeddedFont>
    <p:embeddedFont>
      <p:font typeface="Canva Sans" panose="020B0604020202020204" charset="0"/>
      <p:regular r:id="rId15"/>
    </p:embeddedFont>
    <p:embeddedFont>
      <p:font typeface="Canva Sans Bold" panose="020B0604020202020204" charset="0"/>
      <p:regular r:id="rId16"/>
    </p:embeddedFont>
    <p:embeddedFont>
      <p:font typeface="DM Sans Bold" panose="020B0604020202020204" charset="0"/>
      <p:regular r:id="rId17"/>
    </p:embeddedFont>
    <p:embeddedFont>
      <p:font typeface="Open Sans" panose="020B0606030504020204" pitchFamily="3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0498695" y="5701729"/>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sp>
        <p:nvSpPr>
          <p:cNvPr id="4" name="AutoShape 4"/>
          <p:cNvSpPr/>
          <p:nvPr/>
        </p:nvSpPr>
        <p:spPr>
          <a:xfrm>
            <a:off x="963340" y="5267843"/>
            <a:ext cx="16361319" cy="0"/>
          </a:xfrm>
          <a:prstGeom prst="line">
            <a:avLst/>
          </a:prstGeom>
          <a:ln w="19050" cap="flat">
            <a:solidFill>
              <a:srgbClr val="000000"/>
            </a:solidFill>
            <a:prstDash val="solid"/>
            <a:headEnd type="none" w="sm" len="sm"/>
            <a:tailEnd type="none" w="sm" len="sm"/>
          </a:ln>
        </p:spPr>
      </p:sp>
      <p:grpSp>
        <p:nvGrpSpPr>
          <p:cNvPr id="5" name="Group 5"/>
          <p:cNvGrpSpPr/>
          <p:nvPr/>
        </p:nvGrpSpPr>
        <p:grpSpPr>
          <a:xfrm>
            <a:off x="1141618" y="1836945"/>
            <a:ext cx="9473530" cy="2962811"/>
            <a:chOff x="0" y="0"/>
            <a:chExt cx="1467698" cy="459017"/>
          </a:xfrm>
        </p:grpSpPr>
        <p:sp>
          <p:nvSpPr>
            <p:cNvPr id="6" name="Freeform 6"/>
            <p:cNvSpPr/>
            <p:nvPr/>
          </p:nvSpPr>
          <p:spPr>
            <a:xfrm>
              <a:off x="0" y="0"/>
              <a:ext cx="1467698" cy="459017"/>
            </a:xfrm>
            <a:custGeom>
              <a:avLst/>
              <a:gdLst/>
              <a:ahLst/>
              <a:cxnLst/>
              <a:rect l="l" t="t" r="r" b="b"/>
              <a:pathLst>
                <a:path w="1467698" h="459017">
                  <a:moveTo>
                    <a:pt x="0" y="0"/>
                  </a:moveTo>
                  <a:lnTo>
                    <a:pt x="1467698" y="0"/>
                  </a:lnTo>
                  <a:lnTo>
                    <a:pt x="1467698" y="459017"/>
                  </a:lnTo>
                  <a:lnTo>
                    <a:pt x="0" y="459017"/>
                  </a:lnTo>
                  <a:close/>
                </a:path>
              </a:pathLst>
            </a:custGeom>
            <a:blipFill>
              <a:blip r:embed="rId4"/>
              <a:stretch>
                <a:fillRect l="-39" r="-39"/>
              </a:stretch>
            </a:blipFill>
            <a:ln w="19050" cap="sq">
              <a:solidFill>
                <a:srgbClr val="000000"/>
              </a:solidFill>
              <a:prstDash val="solid"/>
              <a:miter/>
            </a:ln>
          </p:spPr>
        </p:sp>
      </p:grpSp>
      <p:sp>
        <p:nvSpPr>
          <p:cNvPr id="7" name="TextBox 7"/>
          <p:cNvSpPr txBox="1"/>
          <p:nvPr/>
        </p:nvSpPr>
        <p:spPr>
          <a:xfrm>
            <a:off x="1028700" y="6050255"/>
            <a:ext cx="16230600" cy="1537659"/>
          </a:xfrm>
          <a:prstGeom prst="rect">
            <a:avLst/>
          </a:prstGeom>
        </p:spPr>
        <p:txBody>
          <a:bodyPr lIns="0" tIns="0" rIns="0" bIns="0" rtlCol="0" anchor="t">
            <a:spAutoFit/>
          </a:bodyPr>
          <a:lstStyle/>
          <a:p>
            <a:pPr marL="0" lvl="0" indent="0" algn="l">
              <a:lnSpc>
                <a:spcPts val="10042"/>
              </a:lnSpc>
            </a:pPr>
            <a:r>
              <a:rPr lang="en-US" sz="11158" b="1" spc="-669" dirty="0">
                <a:solidFill>
                  <a:srgbClr val="222223"/>
                </a:solidFill>
                <a:latin typeface="Helvetica World Bold"/>
                <a:ea typeface="Helvetica World Bold"/>
                <a:cs typeface="Helvetica World Bold"/>
                <a:sym typeface="Helvetica World Bold"/>
              </a:rPr>
              <a:t>CLINIC APPOINTMENT</a:t>
            </a:r>
          </a:p>
        </p:txBody>
      </p:sp>
      <p:sp>
        <p:nvSpPr>
          <p:cNvPr id="8" name="TextBox 8"/>
          <p:cNvSpPr txBox="1"/>
          <p:nvPr/>
        </p:nvSpPr>
        <p:spPr>
          <a:xfrm>
            <a:off x="1030928" y="7690466"/>
            <a:ext cx="16230600" cy="1377639"/>
          </a:xfrm>
          <a:prstGeom prst="rect">
            <a:avLst/>
          </a:prstGeom>
        </p:spPr>
        <p:txBody>
          <a:bodyPr lIns="0" tIns="0" rIns="0" bIns="0" rtlCol="0" anchor="t">
            <a:spAutoFit/>
          </a:bodyPr>
          <a:lstStyle/>
          <a:p>
            <a:pPr marL="0" lvl="0" indent="0" algn="l">
              <a:lnSpc>
                <a:spcPts val="10042"/>
              </a:lnSpc>
            </a:pPr>
            <a:r>
              <a:rPr lang="en-US" sz="11158" spc="-669" dirty="0">
                <a:solidFill>
                  <a:srgbClr val="222223"/>
                </a:solidFill>
                <a:latin typeface="Helvetica World"/>
                <a:ea typeface="Helvetica World"/>
                <a:cs typeface="Helvetica World"/>
                <a:sym typeface="Helvetica World"/>
              </a:rPr>
              <a:t>PRESCRIPTION MANAGER</a:t>
            </a:r>
          </a:p>
        </p:txBody>
      </p:sp>
      <p:sp>
        <p:nvSpPr>
          <p:cNvPr id="9" name="TextBox 9"/>
          <p:cNvSpPr txBox="1"/>
          <p:nvPr/>
        </p:nvSpPr>
        <p:spPr>
          <a:xfrm>
            <a:off x="11818027" y="8037189"/>
            <a:ext cx="2021927" cy="1072690"/>
          </a:xfrm>
          <a:prstGeom prst="rect">
            <a:avLst/>
          </a:prstGeom>
        </p:spPr>
        <p:txBody>
          <a:bodyPr lIns="0" tIns="0" rIns="0" bIns="0" rtlCol="0" anchor="t">
            <a:spAutoFit/>
          </a:bodyPr>
          <a:lstStyle/>
          <a:p>
            <a:pPr marL="0" lvl="0" indent="0" algn="l">
              <a:lnSpc>
                <a:spcPts val="7836"/>
              </a:lnSpc>
            </a:pPr>
            <a:r>
              <a:rPr lang="en-US" sz="8707" spc="-522" dirty="0">
                <a:solidFill>
                  <a:srgbClr val="5481E4"/>
                </a:solidFill>
                <a:latin typeface="Helvetica World"/>
                <a:ea typeface="Helvetica World"/>
                <a:cs typeface="Helvetica World"/>
                <a:sym typeface="Helvetica World"/>
              </a:rPr>
              <a:t>//</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1</a:t>
            </a:r>
          </a:p>
        </p:txBody>
      </p:sp>
      <p:sp>
        <p:nvSpPr>
          <p:cNvPr id="11" name="TextBox 10">
            <a:extLst>
              <a:ext uri="{FF2B5EF4-FFF2-40B4-BE49-F238E27FC236}">
                <a16:creationId xmlns:a16="http://schemas.microsoft.com/office/drawing/2014/main" id="{6B7D6FED-729D-77A1-098D-B95090F1260B}"/>
              </a:ext>
            </a:extLst>
          </p:cNvPr>
          <p:cNvSpPr txBox="1"/>
          <p:nvPr/>
        </p:nvSpPr>
        <p:spPr>
          <a:xfrm>
            <a:off x="11658600" y="1181099"/>
            <a:ext cx="5943600" cy="1703672"/>
          </a:xfrm>
          <a:prstGeom prst="rect">
            <a:avLst/>
          </a:prstGeom>
          <a:noFill/>
        </p:spPr>
        <p:txBody>
          <a:bodyPr wrap="square" rtlCol="0">
            <a:spAutoFit/>
          </a:bodyPr>
          <a:lstStyle/>
          <a:p>
            <a:pPr algn="ctr">
              <a:lnSpc>
                <a:spcPts val="4370"/>
              </a:lnSpc>
            </a:pPr>
            <a:r>
              <a:rPr lang="en-US">
                <a:gradFill>
                  <a:gsLst>
                    <a:gs pos="0">
                      <a:srgbClr val="8C52FF">
                        <a:alpha val="100000"/>
                      </a:srgbClr>
                    </a:gs>
                    <a:gs pos="100000">
                      <a:srgbClr val="FF914D">
                        <a:alpha val="100000"/>
                      </a:srgbClr>
                    </a:gs>
                  </a:gsLst>
                  <a:lin ang="0"/>
                </a:gradFill>
                <a:latin typeface="Canva Sans"/>
                <a:ea typeface="Canva Sans"/>
                <a:cs typeface="Canva Sans"/>
                <a:sym typeface="Canva Sans"/>
              </a:rPr>
              <a:t>VAISHNAVII KOLLI-2620040020</a:t>
            </a:r>
          </a:p>
          <a:p>
            <a:pPr algn="ctr">
              <a:lnSpc>
                <a:spcPts val="4370"/>
              </a:lnSpc>
            </a:pPr>
            <a:r>
              <a:rPr lang="en-US">
                <a:gradFill>
                  <a:gsLst>
                    <a:gs pos="0">
                      <a:srgbClr val="8C52FF">
                        <a:alpha val="100000"/>
                      </a:srgbClr>
                    </a:gs>
                    <a:gs pos="100000">
                      <a:srgbClr val="FF914D">
                        <a:alpha val="100000"/>
                      </a:srgbClr>
                    </a:gs>
                  </a:gsLst>
                  <a:lin ang="0"/>
                </a:gradFill>
                <a:latin typeface="Canva Sans"/>
                <a:ea typeface="Canva Sans"/>
                <a:cs typeface="Canva Sans"/>
                <a:sym typeface="Canva Sans"/>
              </a:rPr>
              <a:t>HARSHITHA-2620090115</a:t>
            </a:r>
          </a:p>
          <a:p>
            <a:pPr algn="ctr">
              <a:lnSpc>
                <a:spcPts val="4370"/>
              </a:lnSpc>
            </a:pPr>
            <a:r>
              <a:rPr lang="en-US">
                <a:gradFill>
                  <a:gsLst>
                    <a:gs pos="0">
                      <a:srgbClr val="8C52FF">
                        <a:alpha val="100000"/>
                      </a:srgbClr>
                    </a:gs>
                    <a:gs pos="100000">
                      <a:srgbClr val="FF914D">
                        <a:alpha val="100000"/>
                      </a:srgbClr>
                    </a:gs>
                  </a:gsLst>
                  <a:lin ang="0"/>
                </a:gradFill>
                <a:latin typeface="Canva Sans"/>
                <a:ea typeface="Canva Sans"/>
                <a:cs typeface="Canva Sans"/>
                <a:sym typeface="Canva Sans"/>
              </a:rPr>
              <a:t>AISHWARYA-2620040059</a:t>
            </a:r>
            <a:endParaRPr lang="en-US" dirty="0">
              <a:gradFill>
                <a:gsLst>
                  <a:gs pos="0">
                    <a:srgbClr val="8C52FF">
                      <a:alpha val="100000"/>
                    </a:srgbClr>
                  </a:gs>
                  <a:gs pos="100000">
                    <a:srgbClr val="FF914D">
                      <a:alpha val="100000"/>
                    </a:srgbClr>
                  </a:gs>
                </a:gsLst>
                <a:lin ang="0"/>
              </a:gradFill>
              <a:latin typeface="Canva Sans"/>
              <a:ea typeface="Canva Sans"/>
              <a:cs typeface="Canva Sans"/>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0498695" y="5701729"/>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196253" y="2908344"/>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4575098" y="0"/>
            <a:ext cx="9464031" cy="1149682"/>
            <a:chOff x="0" y="0"/>
            <a:chExt cx="2492584" cy="302797"/>
          </a:xfrm>
        </p:grpSpPr>
        <p:sp>
          <p:nvSpPr>
            <p:cNvPr id="5" name="Freeform 5"/>
            <p:cNvSpPr/>
            <p:nvPr/>
          </p:nvSpPr>
          <p:spPr>
            <a:xfrm>
              <a:off x="0" y="0"/>
              <a:ext cx="2492584" cy="302797"/>
            </a:xfrm>
            <a:custGeom>
              <a:avLst/>
              <a:gdLst/>
              <a:ahLst/>
              <a:cxnLst/>
              <a:rect l="l" t="t" r="r" b="b"/>
              <a:pathLst>
                <a:path w="2492584" h="302797">
                  <a:moveTo>
                    <a:pt x="39266" y="0"/>
                  </a:moveTo>
                  <a:lnTo>
                    <a:pt x="2453319" y="0"/>
                  </a:lnTo>
                  <a:cubicBezTo>
                    <a:pt x="2475005" y="0"/>
                    <a:pt x="2492584" y="17580"/>
                    <a:pt x="2492584" y="39266"/>
                  </a:cubicBezTo>
                  <a:lnTo>
                    <a:pt x="2492584" y="263531"/>
                  </a:lnTo>
                  <a:cubicBezTo>
                    <a:pt x="2492584" y="285217"/>
                    <a:pt x="2475005" y="302797"/>
                    <a:pt x="2453319" y="302797"/>
                  </a:cubicBezTo>
                  <a:lnTo>
                    <a:pt x="39266" y="302797"/>
                  </a:lnTo>
                  <a:cubicBezTo>
                    <a:pt x="17580" y="302797"/>
                    <a:pt x="0" y="285217"/>
                    <a:pt x="0" y="263531"/>
                  </a:cubicBezTo>
                  <a:lnTo>
                    <a:pt x="0" y="39266"/>
                  </a:lnTo>
                  <a:cubicBezTo>
                    <a:pt x="0" y="17580"/>
                    <a:pt x="17580" y="0"/>
                    <a:pt x="39266" y="0"/>
                  </a:cubicBezTo>
                  <a:close/>
                </a:path>
              </a:pathLst>
            </a:custGeom>
            <a:solidFill>
              <a:srgbClr val="213A63"/>
            </a:solidFill>
            <a:ln w="19050" cap="rnd">
              <a:solidFill>
                <a:srgbClr val="222223"/>
              </a:solidFill>
              <a:prstDash val="solid"/>
              <a:round/>
            </a:ln>
          </p:spPr>
        </p:sp>
        <p:sp>
          <p:nvSpPr>
            <p:cNvPr id="6" name="TextBox 6"/>
            <p:cNvSpPr txBox="1"/>
            <p:nvPr/>
          </p:nvSpPr>
          <p:spPr>
            <a:xfrm>
              <a:off x="0" y="-57150"/>
              <a:ext cx="2492584" cy="359947"/>
            </a:xfrm>
            <a:prstGeom prst="rect">
              <a:avLst/>
            </a:prstGeom>
          </p:spPr>
          <p:txBody>
            <a:bodyPr lIns="50800" tIns="50800" rIns="50800" bIns="50800" rtlCol="0" anchor="ctr"/>
            <a:lstStyle/>
            <a:p>
              <a:pPr marL="0" lvl="0" indent="0" algn="ctr">
                <a:lnSpc>
                  <a:spcPts val="4059"/>
                </a:lnSpc>
              </a:pPr>
              <a:r>
                <a:rPr lang="en-US" sz="2899" dirty="0">
                  <a:solidFill>
                    <a:srgbClr val="FFFFFF"/>
                  </a:solidFill>
                  <a:latin typeface="Open Sans"/>
                  <a:ea typeface="Open Sans"/>
                  <a:cs typeface="Open Sans"/>
                  <a:sym typeface="Open Sans"/>
                </a:rPr>
                <a:t>ABSTRACT</a:t>
              </a:r>
            </a:p>
          </p:txBody>
        </p:sp>
      </p:grpSp>
      <p:sp>
        <p:nvSpPr>
          <p:cNvPr id="7" name="TextBox 7"/>
          <p:cNvSpPr txBox="1"/>
          <p:nvPr/>
        </p:nvSpPr>
        <p:spPr>
          <a:xfrm>
            <a:off x="838200" y="3924005"/>
            <a:ext cx="16959210" cy="2585323"/>
          </a:xfrm>
          <a:prstGeom prst="rect">
            <a:avLst/>
          </a:prstGeom>
        </p:spPr>
        <p:txBody>
          <a:bodyPr wrap="square" lIns="0" tIns="0" rIns="0" bIns="0" rtlCol="0" anchor="t">
            <a:spAutoFit/>
          </a:bodyPr>
          <a:lstStyle/>
          <a:p>
            <a:pPr algn="ctr">
              <a:lnSpc>
                <a:spcPct val="100000"/>
              </a:lnSpc>
            </a:pPr>
            <a:r>
              <a:rPr lang="en-IN" sz="2800" dirty="0"/>
              <a:t>This project is a simple Java-based Clinic Appointment and Prescription Management System designed to reduce the difficulties of manual record-keeping. It allows users to store patient details, schedule and view appointments, and maintain prescription records through a user-friendly menu-driven system. The project uses Java concepts such as classes, objects, methods, conditional statements, loops, and data structures to manage clinic information efficiently. Overall, it helps organise patient records, appointments, and prescriptions systematically while demonstrating how Java can be used to develop a practical real-world application.</a:t>
            </a:r>
            <a:endParaRPr lang="en-US" sz="2640" dirty="0">
              <a:solidFill>
                <a:srgbClr val="0097B2"/>
              </a:solidFill>
              <a:latin typeface="Canva Sans"/>
              <a:ea typeface="Canva Sans"/>
              <a:cs typeface="Canva Sans"/>
              <a:sym typeface="Canva Sans"/>
            </a:endParaRP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912449" y="1495025"/>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5379790" y="542553"/>
            <a:ext cx="8159124" cy="828317"/>
            <a:chOff x="0" y="0"/>
            <a:chExt cx="2148905" cy="218158"/>
          </a:xfrm>
        </p:grpSpPr>
        <p:sp>
          <p:nvSpPr>
            <p:cNvPr id="5" name="Freeform 5"/>
            <p:cNvSpPr/>
            <p:nvPr/>
          </p:nvSpPr>
          <p:spPr>
            <a:xfrm>
              <a:off x="0" y="0"/>
              <a:ext cx="2148905" cy="218158"/>
            </a:xfrm>
            <a:custGeom>
              <a:avLst/>
              <a:gdLst/>
              <a:ahLst/>
              <a:cxnLst/>
              <a:rect l="l" t="t" r="r" b="b"/>
              <a:pathLst>
                <a:path w="2148905" h="218158">
                  <a:moveTo>
                    <a:pt x="45546" y="0"/>
                  </a:moveTo>
                  <a:lnTo>
                    <a:pt x="2103360" y="0"/>
                  </a:lnTo>
                  <a:cubicBezTo>
                    <a:pt x="2128514" y="0"/>
                    <a:pt x="2148905" y="20391"/>
                    <a:pt x="2148905" y="45546"/>
                  </a:cubicBezTo>
                  <a:lnTo>
                    <a:pt x="2148905" y="172612"/>
                  </a:lnTo>
                  <a:cubicBezTo>
                    <a:pt x="2148905" y="197766"/>
                    <a:pt x="2128514" y="218158"/>
                    <a:pt x="2103360" y="218158"/>
                  </a:cubicBezTo>
                  <a:lnTo>
                    <a:pt x="45546" y="218158"/>
                  </a:lnTo>
                  <a:cubicBezTo>
                    <a:pt x="33466" y="218158"/>
                    <a:pt x="21881" y="213359"/>
                    <a:pt x="13340" y="204818"/>
                  </a:cubicBezTo>
                  <a:cubicBezTo>
                    <a:pt x="4799" y="196276"/>
                    <a:pt x="0" y="184691"/>
                    <a:pt x="0" y="172612"/>
                  </a:cubicBezTo>
                  <a:lnTo>
                    <a:pt x="0" y="45546"/>
                  </a:lnTo>
                  <a:cubicBezTo>
                    <a:pt x="0" y="20391"/>
                    <a:pt x="20391" y="0"/>
                    <a:pt x="45546" y="0"/>
                  </a:cubicBezTo>
                  <a:close/>
                </a:path>
              </a:pathLst>
            </a:custGeom>
            <a:solidFill>
              <a:srgbClr val="213A63"/>
            </a:solidFill>
            <a:ln w="19050" cap="rnd">
              <a:solidFill>
                <a:srgbClr val="222223"/>
              </a:solidFill>
              <a:prstDash val="solid"/>
              <a:round/>
            </a:ln>
          </p:spPr>
        </p:sp>
        <p:sp>
          <p:nvSpPr>
            <p:cNvPr id="6" name="TextBox 6"/>
            <p:cNvSpPr txBox="1"/>
            <p:nvPr/>
          </p:nvSpPr>
          <p:spPr>
            <a:xfrm>
              <a:off x="0" y="-38100"/>
              <a:ext cx="2148905" cy="256258"/>
            </a:xfrm>
            <a:prstGeom prst="rect">
              <a:avLst/>
            </a:prstGeom>
          </p:spPr>
          <p:txBody>
            <a:bodyPr lIns="50800" tIns="50800" rIns="50800" bIns="50800" rtlCol="0" anchor="ctr"/>
            <a:lstStyle/>
            <a:p>
              <a:pPr marL="0" lvl="0" indent="0" algn="ctr">
                <a:lnSpc>
                  <a:spcPts val="2659"/>
                </a:lnSpc>
              </a:pPr>
              <a:endParaRPr dirty="0"/>
            </a:p>
          </p:txBody>
        </p:sp>
      </p:gr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3</a:t>
            </a:r>
          </a:p>
        </p:txBody>
      </p:sp>
      <p:sp>
        <p:nvSpPr>
          <p:cNvPr id="8" name="TextBox 8"/>
          <p:cNvSpPr txBox="1"/>
          <p:nvPr/>
        </p:nvSpPr>
        <p:spPr>
          <a:xfrm>
            <a:off x="6136409" y="648179"/>
            <a:ext cx="6364010" cy="505266"/>
          </a:xfrm>
          <a:prstGeom prst="rect">
            <a:avLst/>
          </a:prstGeom>
        </p:spPr>
        <p:txBody>
          <a:bodyPr lIns="0" tIns="0" rIns="0" bIns="0" rtlCol="0" anchor="t">
            <a:spAutoFit/>
          </a:bodyPr>
          <a:lstStyle/>
          <a:p>
            <a:pPr algn="ctr">
              <a:lnSpc>
                <a:spcPts val="4175"/>
              </a:lnSpc>
              <a:spcBef>
                <a:spcPct val="0"/>
              </a:spcBef>
            </a:pPr>
            <a:r>
              <a:rPr lang="en-US" sz="2982" dirty="0">
                <a:solidFill>
                  <a:srgbClr val="FFFFFF"/>
                </a:solidFill>
                <a:latin typeface="Canva Sans"/>
                <a:ea typeface="Canva Sans"/>
                <a:cs typeface="Canva Sans"/>
                <a:sym typeface="Canva Sans"/>
              </a:rPr>
              <a:t>Understanding Problem Statement</a:t>
            </a:r>
          </a:p>
        </p:txBody>
      </p:sp>
      <p:sp>
        <p:nvSpPr>
          <p:cNvPr id="9" name="TextBox 9"/>
          <p:cNvSpPr txBox="1"/>
          <p:nvPr/>
        </p:nvSpPr>
        <p:spPr>
          <a:xfrm>
            <a:off x="0" y="2019041"/>
            <a:ext cx="18112816" cy="8303235"/>
          </a:xfrm>
          <a:prstGeom prst="rect">
            <a:avLst/>
          </a:prstGeom>
        </p:spPr>
        <p:txBody>
          <a:bodyPr lIns="0" tIns="0" rIns="0" bIns="0" rtlCol="0" anchor="t">
            <a:spAutoFit/>
          </a:bodyPr>
          <a:lstStyle/>
          <a:p>
            <a:pPr algn="ctr">
              <a:lnSpc>
                <a:spcPts val="4796"/>
              </a:lnSpc>
            </a:pPr>
            <a:r>
              <a:rPr lang="en-US" sz="3425" dirty="0">
                <a:gradFill>
                  <a:gsLst>
                    <a:gs pos="0">
                      <a:srgbClr val="000000">
                        <a:alpha val="100000"/>
                      </a:srgbClr>
                    </a:gs>
                    <a:gs pos="100000">
                      <a:srgbClr val="3533CD">
                        <a:alpha val="100000"/>
                      </a:srgbClr>
                    </a:gs>
                  </a:gsLst>
                  <a:lin ang="0"/>
                </a:gradFill>
                <a:latin typeface="Canva Sans"/>
                <a:ea typeface="Canva Sans"/>
                <a:cs typeface="Canva Sans"/>
                <a:sym typeface="Canva Sans"/>
              </a:rPr>
              <a:t>•Problem:</a:t>
            </a: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•Managing patient appointments and prescription details manually can take time and may cause mistakes.</a:t>
            </a:r>
          </a:p>
          <a:p>
            <a:pPr algn="ctr">
              <a:lnSpc>
                <a:spcPts val="4655"/>
              </a:lnSpc>
            </a:pPr>
            <a:endPar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endParaRP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•Proposed Solution:</a:t>
            </a: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•Create a simple menu-driven Java application that keeps appointment and prescription information </a:t>
            </a:r>
            <a:r>
              <a:rPr lang="en-US" sz="3325" dirty="0" err="1">
                <a:gradFill>
                  <a:gsLst>
                    <a:gs pos="0">
                      <a:srgbClr val="000000">
                        <a:alpha val="100000"/>
                      </a:srgbClr>
                    </a:gs>
                    <a:gs pos="100000">
                      <a:srgbClr val="3533CD">
                        <a:alpha val="100000"/>
                      </a:srgbClr>
                    </a:gs>
                  </a:gsLst>
                  <a:lin ang="0"/>
                </a:gradFill>
                <a:latin typeface="Canva Sans"/>
                <a:ea typeface="Canva Sans"/>
                <a:cs typeface="Canva Sans"/>
                <a:sym typeface="Canva Sans"/>
              </a:rPr>
              <a:t>organised</a:t>
            </a: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a:t>
            </a:r>
          </a:p>
          <a:p>
            <a:pPr algn="ctr">
              <a:lnSpc>
                <a:spcPts val="4655"/>
              </a:lnSpc>
            </a:pPr>
            <a:endPar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endParaRP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•Main Features:</a:t>
            </a: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 Add appointment details</a:t>
            </a: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 View appointment details</a:t>
            </a:r>
          </a:p>
          <a:p>
            <a:pPr algn="ctr">
              <a:lnSpc>
                <a:spcPts val="4655"/>
              </a:lnSpc>
            </a:pPr>
            <a:r>
              <a:rPr lang="en-US" sz="3325" dirty="0">
                <a:gradFill>
                  <a:gsLst>
                    <a:gs pos="0">
                      <a:srgbClr val="000000">
                        <a:alpha val="100000"/>
                      </a:srgbClr>
                    </a:gs>
                    <a:gs pos="100000">
                      <a:srgbClr val="3533CD">
                        <a:alpha val="100000"/>
                      </a:srgbClr>
                    </a:gs>
                  </a:gsLst>
                  <a:lin ang="0"/>
                </a:gradFill>
                <a:latin typeface="Canva Sans"/>
                <a:ea typeface="Canva Sans"/>
                <a:cs typeface="Canva Sans"/>
                <a:sym typeface="Canva Sans"/>
              </a:rPr>
              <a:t>• Add prescription details</a:t>
            </a:r>
          </a:p>
          <a:p>
            <a:pPr algn="ctr">
              <a:lnSpc>
                <a:spcPts val="4936"/>
              </a:lnSpc>
            </a:pPr>
            <a:r>
              <a:rPr lang="en-US" sz="3526" dirty="0">
                <a:gradFill>
                  <a:gsLst>
                    <a:gs pos="0">
                      <a:srgbClr val="000000">
                        <a:alpha val="100000"/>
                      </a:srgbClr>
                    </a:gs>
                    <a:gs pos="100000">
                      <a:srgbClr val="3533CD">
                        <a:alpha val="100000"/>
                      </a:srgbClr>
                    </a:gs>
                  </a:gsLst>
                  <a:lin ang="0"/>
                </a:gradFill>
                <a:latin typeface="Canva Sans"/>
                <a:ea typeface="Canva Sans"/>
                <a:cs typeface="Canva Sans"/>
                <a:sym typeface="Canva Sans"/>
              </a:rPr>
              <a:t>• View prescription details</a:t>
            </a:r>
          </a:p>
          <a:p>
            <a:pPr algn="ctr">
              <a:lnSpc>
                <a:spcPts val="4936"/>
              </a:lnSpc>
            </a:pPr>
            <a:r>
              <a:rPr lang="en-US" sz="3526" dirty="0">
                <a:gradFill>
                  <a:gsLst>
                    <a:gs pos="0">
                      <a:srgbClr val="000000">
                        <a:alpha val="100000"/>
                      </a:srgbClr>
                    </a:gs>
                    <a:gs pos="100000">
                      <a:srgbClr val="3533CD">
                        <a:alpha val="100000"/>
                      </a:srgbClr>
                    </a:gs>
                  </a:gsLst>
                  <a:lin ang="0"/>
                </a:gradFill>
                <a:latin typeface="Canva Sans"/>
                <a:ea typeface="Canva Sans"/>
                <a:cs typeface="Canva Sans"/>
                <a:sym typeface="Canva Sans"/>
              </a:rPr>
              <a:t>• Exit the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1438270" y="5757721"/>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3574669" y="542553"/>
            <a:ext cx="11160411" cy="1065238"/>
            <a:chOff x="0" y="0"/>
            <a:chExt cx="2939367" cy="280556"/>
          </a:xfrm>
        </p:grpSpPr>
        <p:sp>
          <p:nvSpPr>
            <p:cNvPr id="5" name="Freeform 5"/>
            <p:cNvSpPr/>
            <p:nvPr/>
          </p:nvSpPr>
          <p:spPr>
            <a:xfrm>
              <a:off x="0" y="0"/>
              <a:ext cx="2939367" cy="280556"/>
            </a:xfrm>
            <a:custGeom>
              <a:avLst/>
              <a:gdLst/>
              <a:ahLst/>
              <a:cxnLst/>
              <a:rect l="l" t="t" r="r" b="b"/>
              <a:pathLst>
                <a:path w="2939367" h="280556">
                  <a:moveTo>
                    <a:pt x="33297" y="0"/>
                  </a:moveTo>
                  <a:lnTo>
                    <a:pt x="2906070" y="0"/>
                  </a:lnTo>
                  <a:cubicBezTo>
                    <a:pt x="2924460" y="0"/>
                    <a:pt x="2939367" y="14908"/>
                    <a:pt x="2939367" y="33297"/>
                  </a:cubicBezTo>
                  <a:lnTo>
                    <a:pt x="2939367" y="247259"/>
                  </a:lnTo>
                  <a:cubicBezTo>
                    <a:pt x="2939367" y="265649"/>
                    <a:pt x="2924460" y="280556"/>
                    <a:pt x="2906070" y="280556"/>
                  </a:cubicBezTo>
                  <a:lnTo>
                    <a:pt x="33297" y="280556"/>
                  </a:lnTo>
                  <a:cubicBezTo>
                    <a:pt x="14908" y="280556"/>
                    <a:pt x="0" y="265649"/>
                    <a:pt x="0" y="247259"/>
                  </a:cubicBezTo>
                  <a:lnTo>
                    <a:pt x="0" y="33297"/>
                  </a:lnTo>
                  <a:cubicBezTo>
                    <a:pt x="0" y="14908"/>
                    <a:pt x="14908" y="0"/>
                    <a:pt x="33297" y="0"/>
                  </a:cubicBezTo>
                  <a:close/>
                </a:path>
              </a:pathLst>
            </a:custGeom>
            <a:solidFill>
              <a:srgbClr val="213A63"/>
            </a:solidFill>
            <a:ln w="19050" cap="rnd">
              <a:solidFill>
                <a:srgbClr val="222223"/>
              </a:solidFill>
              <a:prstDash val="solid"/>
              <a:round/>
            </a:ln>
          </p:spPr>
        </p:sp>
        <p:sp>
          <p:nvSpPr>
            <p:cNvPr id="6" name="TextBox 6"/>
            <p:cNvSpPr txBox="1"/>
            <p:nvPr/>
          </p:nvSpPr>
          <p:spPr>
            <a:xfrm>
              <a:off x="0" y="-85725"/>
              <a:ext cx="2939367" cy="366281"/>
            </a:xfrm>
            <a:prstGeom prst="rect">
              <a:avLst/>
            </a:prstGeom>
          </p:spPr>
          <p:txBody>
            <a:bodyPr lIns="50800" tIns="50800" rIns="50800" bIns="50800" rtlCol="0" anchor="ctr"/>
            <a:lstStyle/>
            <a:p>
              <a:pPr marL="0" lvl="0" indent="0" algn="ctr">
                <a:lnSpc>
                  <a:spcPts val="6439"/>
                </a:lnSpc>
              </a:pPr>
              <a:r>
                <a:rPr lang="en-US" sz="4599">
                  <a:solidFill>
                    <a:srgbClr val="E9E9E6"/>
                  </a:solidFill>
                  <a:latin typeface="Open Sans"/>
                  <a:ea typeface="Open Sans"/>
                  <a:cs typeface="Open Sans"/>
                  <a:sym typeface="Open Sans"/>
                </a:rPr>
                <a:t>C O-1</a:t>
              </a:r>
            </a:p>
          </p:txBody>
        </p:sp>
      </p:grpSp>
      <p:sp>
        <p:nvSpPr>
          <p:cNvPr id="7" name="TextBox 7"/>
          <p:cNvSpPr txBox="1"/>
          <p:nvPr/>
        </p:nvSpPr>
        <p:spPr>
          <a:xfrm>
            <a:off x="603048" y="3939448"/>
            <a:ext cx="16656252" cy="5004946"/>
          </a:xfrm>
          <a:prstGeom prst="rect">
            <a:avLst/>
          </a:prstGeom>
        </p:spPr>
        <p:txBody>
          <a:bodyPr lIns="0" tIns="0" rIns="0" bIns="0" rtlCol="0" anchor="t">
            <a:spAutoFit/>
          </a:bodyPr>
          <a:lstStyle/>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Java Basics Used</a:t>
            </a:r>
          </a:p>
          <a:p>
            <a:pPr algn="ctr">
              <a:lnSpc>
                <a:spcPts val="5011"/>
              </a:lnSpc>
            </a:pPr>
            <a:endPar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endParaRPr>
          </a:p>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                                      • Variables and data types – store names, IDs, dates, and other details.</a:t>
            </a:r>
          </a:p>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 Scanner – accepts input from the user.</a:t>
            </a:r>
          </a:p>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                       • Operators – perform calculations and comparisons.</a:t>
            </a:r>
          </a:p>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 If-else – checks conditions and choices.</a:t>
            </a:r>
          </a:p>
          <a:p>
            <a:pPr algn="ctr">
              <a:lnSpc>
                <a:spcPts val="5011"/>
              </a:lnSpc>
            </a:pPr>
            <a:r>
              <a:rPr lang="en-US" sz="3579">
                <a:gradFill>
                  <a:gsLst>
                    <a:gs pos="0">
                      <a:srgbClr val="000000">
                        <a:alpha val="100000"/>
                      </a:srgbClr>
                    </a:gs>
                    <a:gs pos="100000">
                      <a:srgbClr val="3533CD">
                        <a:alpha val="100000"/>
                      </a:srgbClr>
                    </a:gs>
                  </a:gsLst>
                  <a:lin ang="0"/>
                </a:gradFill>
                <a:latin typeface="Canva Sans"/>
                <a:ea typeface="Canva Sans"/>
                <a:cs typeface="Canva Sans"/>
                <a:sym typeface="Canva Sans"/>
              </a:rPr>
              <a:t>                            • Boolean values – represent states such as availability</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id="9" name="Group 9"/>
          <p:cNvGrpSpPr/>
          <p:nvPr/>
        </p:nvGrpSpPr>
        <p:grpSpPr>
          <a:xfrm>
            <a:off x="-287994" y="1963721"/>
            <a:ext cx="4656974" cy="7544418"/>
            <a:chOff x="0" y="0"/>
            <a:chExt cx="721487" cy="1168828"/>
          </a:xfrm>
        </p:grpSpPr>
        <p:sp>
          <p:nvSpPr>
            <p:cNvPr id="10" name="Freeform 10"/>
            <p:cNvSpPr/>
            <p:nvPr/>
          </p:nvSpPr>
          <p:spPr>
            <a:xfrm>
              <a:off x="0" y="0"/>
              <a:ext cx="721487" cy="1168828"/>
            </a:xfrm>
            <a:custGeom>
              <a:avLst/>
              <a:gdLst/>
              <a:ahLst/>
              <a:cxnLst/>
              <a:rect l="l" t="t" r="r" b="b"/>
              <a:pathLst>
                <a:path w="721487" h="1168828">
                  <a:moveTo>
                    <a:pt x="0" y="0"/>
                  </a:moveTo>
                  <a:lnTo>
                    <a:pt x="721487" y="0"/>
                  </a:lnTo>
                  <a:lnTo>
                    <a:pt x="721487" y="1168828"/>
                  </a:lnTo>
                  <a:lnTo>
                    <a:pt x="0" y="1168828"/>
                  </a:lnTo>
                  <a:close/>
                </a:path>
              </a:pathLst>
            </a:custGeom>
            <a:blipFill>
              <a:blip r:embed="rId4"/>
              <a:stretch>
                <a:fillRect l="-322" r="-322"/>
              </a:stretch>
            </a:blipFill>
            <a:ln w="19050" cap="sq">
              <a:solidFill>
                <a:srgbClr val="000000"/>
              </a:solidFill>
              <a:prstDash val="solid"/>
              <a:miter/>
            </a:ln>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1438270" y="5757721"/>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4966570" y="542553"/>
            <a:ext cx="7745904" cy="1084658"/>
            <a:chOff x="0" y="0"/>
            <a:chExt cx="2040073" cy="285671"/>
          </a:xfrm>
        </p:grpSpPr>
        <p:sp>
          <p:nvSpPr>
            <p:cNvPr id="5" name="Freeform 5"/>
            <p:cNvSpPr/>
            <p:nvPr/>
          </p:nvSpPr>
          <p:spPr>
            <a:xfrm>
              <a:off x="0" y="0"/>
              <a:ext cx="2040074" cy="285671"/>
            </a:xfrm>
            <a:custGeom>
              <a:avLst/>
              <a:gdLst/>
              <a:ahLst/>
              <a:cxnLst/>
              <a:rect l="l" t="t" r="r" b="b"/>
              <a:pathLst>
                <a:path w="2040074" h="285671">
                  <a:moveTo>
                    <a:pt x="47975" y="0"/>
                  </a:moveTo>
                  <a:lnTo>
                    <a:pt x="1992098" y="0"/>
                  </a:lnTo>
                  <a:cubicBezTo>
                    <a:pt x="2018594" y="0"/>
                    <a:pt x="2040074" y="21479"/>
                    <a:pt x="2040074" y="47975"/>
                  </a:cubicBezTo>
                  <a:lnTo>
                    <a:pt x="2040074" y="237696"/>
                  </a:lnTo>
                  <a:cubicBezTo>
                    <a:pt x="2040074" y="264192"/>
                    <a:pt x="2018594" y="285671"/>
                    <a:pt x="1992098" y="285671"/>
                  </a:cubicBezTo>
                  <a:lnTo>
                    <a:pt x="47975" y="285671"/>
                  </a:lnTo>
                  <a:cubicBezTo>
                    <a:pt x="21479" y="285671"/>
                    <a:pt x="0" y="264192"/>
                    <a:pt x="0" y="237696"/>
                  </a:cubicBezTo>
                  <a:lnTo>
                    <a:pt x="0" y="47975"/>
                  </a:lnTo>
                  <a:cubicBezTo>
                    <a:pt x="0" y="21479"/>
                    <a:pt x="21479" y="0"/>
                    <a:pt x="47975" y="0"/>
                  </a:cubicBezTo>
                  <a:close/>
                </a:path>
              </a:pathLst>
            </a:custGeom>
            <a:solidFill>
              <a:srgbClr val="213A63"/>
            </a:solidFill>
            <a:ln w="19050" cap="rnd">
              <a:solidFill>
                <a:srgbClr val="222223"/>
              </a:solidFill>
              <a:prstDash val="solid"/>
              <a:round/>
            </a:ln>
          </p:spPr>
        </p:sp>
        <p:sp>
          <p:nvSpPr>
            <p:cNvPr id="6" name="TextBox 6"/>
            <p:cNvSpPr txBox="1"/>
            <p:nvPr/>
          </p:nvSpPr>
          <p:spPr>
            <a:xfrm>
              <a:off x="0" y="-85725"/>
              <a:ext cx="2040073" cy="371396"/>
            </a:xfrm>
            <a:prstGeom prst="rect">
              <a:avLst/>
            </a:prstGeom>
          </p:spPr>
          <p:txBody>
            <a:bodyPr lIns="50800" tIns="50800" rIns="50800" bIns="50800" rtlCol="0" anchor="ctr"/>
            <a:lstStyle/>
            <a:p>
              <a:pPr marL="0" lvl="0" indent="0" algn="ctr">
                <a:lnSpc>
                  <a:spcPts val="6159"/>
                </a:lnSpc>
              </a:pPr>
              <a:r>
                <a:rPr lang="en-US" sz="4399">
                  <a:solidFill>
                    <a:srgbClr val="E9E9E6"/>
                  </a:solidFill>
                  <a:latin typeface="Open Sans"/>
                  <a:ea typeface="Open Sans"/>
                  <a:cs typeface="Open Sans"/>
                  <a:sym typeface="Open Sans"/>
                </a:rPr>
                <a:t>CO-2</a:t>
              </a:r>
            </a:p>
          </p:txBody>
        </p:sp>
      </p:gr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8" name="TextBox 8"/>
          <p:cNvSpPr txBox="1"/>
          <p:nvPr/>
        </p:nvSpPr>
        <p:spPr>
          <a:xfrm>
            <a:off x="322309" y="2751623"/>
            <a:ext cx="17087128" cy="5127208"/>
          </a:xfrm>
          <a:prstGeom prst="rect">
            <a:avLst/>
          </a:prstGeom>
        </p:spPr>
        <p:txBody>
          <a:bodyPr lIns="0" tIns="0" rIns="0" bIns="0" rtlCol="0" anchor="t">
            <a:spAutoFit/>
          </a:bodyPr>
          <a:lstStyle/>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•Control Structures and Methods</a:t>
            </a:r>
          </a:p>
          <a:p>
            <a:pPr algn="ctr">
              <a:lnSpc>
                <a:spcPts val="4573"/>
              </a:lnSpc>
            </a:pPr>
            <a:endPar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endParaRPr>
          </a:p>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        • switch-case – provides the menu options.</a:t>
            </a:r>
          </a:p>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                                       • do-while loop – keeps the program running until Exit is selected.</a:t>
            </a:r>
          </a:p>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                      • Methods – divide the program into smaller tasks.</a:t>
            </a:r>
          </a:p>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                                   • Parameters and return values – pass information between methods.</a:t>
            </a:r>
          </a:p>
          <a:p>
            <a:pPr algn="ctr">
              <a:lnSpc>
                <a:spcPts val="4573"/>
              </a:lnSpc>
            </a:pPr>
            <a:r>
              <a:rPr lang="en-US" sz="3266">
                <a:gradFill>
                  <a:gsLst>
                    <a:gs pos="0">
                      <a:srgbClr val="000000">
                        <a:alpha val="100000"/>
                      </a:srgbClr>
                    </a:gs>
                    <a:gs pos="100000">
                      <a:srgbClr val="3533CD">
                        <a:alpha val="100000"/>
                      </a:srgbClr>
                    </a:gs>
                  </a:gsLst>
                  <a:lin ang="0"/>
                </a:gradFill>
                <a:latin typeface="Canva Sans"/>
                <a:ea typeface="Canva Sans"/>
                <a:cs typeface="Canva Sans"/>
                <a:sym typeface="Canva Sans"/>
              </a:rPr>
              <a:t>                                     • Reusable methods make the program easier to understand and maintain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0498695" y="5701729"/>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7" name="Group 7"/>
          <p:cNvGrpSpPr/>
          <p:nvPr/>
        </p:nvGrpSpPr>
        <p:grpSpPr>
          <a:xfrm>
            <a:off x="13030532" y="2277991"/>
            <a:ext cx="435118" cy="435118"/>
            <a:chOff x="0" y="0"/>
            <a:chExt cx="647700" cy="647700"/>
          </a:xfrm>
        </p:grpSpPr>
        <p:sp>
          <p:nvSpPr>
            <p:cNvPr id="8" name="Freeform 8"/>
            <p:cNvSpPr/>
            <p:nvPr/>
          </p:nvSpPr>
          <p:spPr>
            <a:xfrm>
              <a:off x="0" y="0"/>
              <a:ext cx="647700" cy="647700"/>
            </a:xfrm>
            <a:custGeom>
              <a:avLst/>
              <a:gdLst/>
              <a:ahLst/>
              <a:cxnLst/>
              <a:rect l="l" t="t" r="r" b="b"/>
              <a:pathLst>
                <a:path w="647700" h="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FFFFFF"/>
            </a:solidFill>
          </p:spPr>
        </p:sp>
        <p:sp>
          <p:nvSpPr>
            <p:cNvPr id="9" name="TextBox 9"/>
            <p:cNvSpPr txBox="1"/>
            <p:nvPr/>
          </p:nvSpPr>
          <p:spPr>
            <a:xfrm>
              <a:off x="15240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222223"/>
                </a:solidFill>
                <a:latin typeface="Canva Sans"/>
                <a:ea typeface="Canva Sans"/>
                <a:cs typeface="Canva Sans"/>
                <a:sym typeface="Canva Sans"/>
              </a:rPr>
              <a:t>8</a:t>
            </a:r>
          </a:p>
        </p:txBody>
      </p:sp>
      <p:sp>
        <p:nvSpPr>
          <p:cNvPr id="14" name="TextBox 13">
            <a:extLst>
              <a:ext uri="{FF2B5EF4-FFF2-40B4-BE49-F238E27FC236}">
                <a16:creationId xmlns:a16="http://schemas.microsoft.com/office/drawing/2014/main" id="{15B016F3-5836-A28A-BC42-B62BB042B2A8}"/>
              </a:ext>
            </a:extLst>
          </p:cNvPr>
          <p:cNvSpPr txBox="1"/>
          <p:nvPr/>
        </p:nvSpPr>
        <p:spPr>
          <a:xfrm>
            <a:off x="1371600" y="2092825"/>
            <a:ext cx="12877800" cy="6740307"/>
          </a:xfrm>
          <a:prstGeom prst="rect">
            <a:avLst/>
          </a:prstGeom>
          <a:noFill/>
        </p:spPr>
        <p:txBody>
          <a:bodyPr wrap="square" rtlCol="0">
            <a:spAutoFit/>
          </a:bodyPr>
          <a:lstStyle/>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Modular Programming</a:t>
            </a:r>
          </a:p>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Methods</a:t>
            </a:r>
          </a:p>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Enhanced for-each Loop</a:t>
            </a:r>
          </a:p>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Recursion</a:t>
            </a:r>
          </a:p>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1D Arrays</a:t>
            </a:r>
          </a:p>
          <a:p>
            <a:pPr marL="285750" indent="-285750">
              <a:buFont typeface="Arial" panose="020B0604020202020204" pitchFamily="34" charset="0"/>
              <a:buChar char="•"/>
            </a:pPr>
            <a:r>
              <a:rPr lang="en-IN" sz="5400" dirty="0">
                <a:ln w="0"/>
                <a:solidFill>
                  <a:schemeClr val="accent1"/>
                </a:solidFill>
                <a:effectLst>
                  <a:outerShdw blurRad="50800" dist="38100" dir="8100000" algn="tr" rotWithShape="0">
                    <a:prstClr val="black">
                      <a:alpha val="40000"/>
                    </a:prstClr>
                  </a:outerShdw>
                </a:effectLst>
              </a:rPr>
              <a:t>2D Arrays</a:t>
            </a:r>
          </a:p>
          <a:p>
            <a:br>
              <a:rPr lang="en-IN" sz="5400" dirty="0">
                <a:ln w="0"/>
                <a:solidFill>
                  <a:schemeClr val="accent1"/>
                </a:solidFill>
                <a:effectLst>
                  <a:outerShdw blurRad="50800" dist="38100" dir="8100000" algn="tr" rotWithShape="0">
                    <a:prstClr val="black">
                      <a:alpha val="40000"/>
                    </a:prstClr>
                  </a:outerShdw>
                </a:effectLst>
              </a:rPr>
            </a:br>
            <a:endParaRPr lang="en-IN" sz="5400" dirty="0">
              <a:ln w="0"/>
              <a:solidFill>
                <a:schemeClr val="accent1"/>
              </a:solidFill>
              <a:effectLst>
                <a:outerShdw blurRad="50800" dist="38100" dir="8100000" algn="tr" rotWithShape="0">
                  <a:prstClr val="black">
                    <a:alpha val="40000"/>
                  </a:prstClr>
                </a:outerShdw>
              </a:effectLst>
            </a:endParaRPr>
          </a:p>
        </p:txBody>
      </p:sp>
      <p:sp>
        <p:nvSpPr>
          <p:cNvPr id="15" name="Rectangle: Rounded Corners 14">
            <a:extLst>
              <a:ext uri="{FF2B5EF4-FFF2-40B4-BE49-F238E27FC236}">
                <a16:creationId xmlns:a16="http://schemas.microsoft.com/office/drawing/2014/main" id="{DF3E4DF9-B722-DA10-250B-93CA7FC00E53}"/>
              </a:ext>
            </a:extLst>
          </p:cNvPr>
          <p:cNvSpPr/>
          <p:nvPr/>
        </p:nvSpPr>
        <p:spPr>
          <a:xfrm>
            <a:off x="5791200" y="419100"/>
            <a:ext cx="6477000" cy="914400"/>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E1DFD5A-FAAC-902B-C76F-58B71AE546AA}"/>
              </a:ext>
            </a:extLst>
          </p:cNvPr>
          <p:cNvSpPr txBox="1"/>
          <p:nvPr/>
        </p:nvSpPr>
        <p:spPr>
          <a:xfrm>
            <a:off x="6781800" y="490421"/>
            <a:ext cx="3118094" cy="707886"/>
          </a:xfrm>
          <a:prstGeom prst="rect">
            <a:avLst/>
          </a:prstGeom>
          <a:noFill/>
        </p:spPr>
        <p:txBody>
          <a:bodyPr wrap="square" rtlCol="0">
            <a:spAutoFit/>
          </a:bodyPr>
          <a:lstStyle/>
          <a:p>
            <a:r>
              <a:rPr lang="en-IN" sz="4000" dirty="0">
                <a:solidFill>
                  <a:schemeClr val="bg1"/>
                </a:solidFill>
              </a:rPr>
              <a:t>           CO-3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1438270" y="5757721"/>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6227980" y="238074"/>
            <a:ext cx="6332255" cy="1354234"/>
            <a:chOff x="0" y="0"/>
            <a:chExt cx="1667754" cy="356671"/>
          </a:xfrm>
        </p:grpSpPr>
        <p:sp>
          <p:nvSpPr>
            <p:cNvPr id="5" name="Freeform 5"/>
            <p:cNvSpPr/>
            <p:nvPr/>
          </p:nvSpPr>
          <p:spPr>
            <a:xfrm>
              <a:off x="0" y="0"/>
              <a:ext cx="1667754" cy="356671"/>
            </a:xfrm>
            <a:custGeom>
              <a:avLst/>
              <a:gdLst/>
              <a:ahLst/>
              <a:cxnLst/>
              <a:rect l="l" t="t" r="r" b="b"/>
              <a:pathLst>
                <a:path w="1667754" h="356671">
                  <a:moveTo>
                    <a:pt x="58686" y="0"/>
                  </a:moveTo>
                  <a:lnTo>
                    <a:pt x="1609069" y="0"/>
                  </a:lnTo>
                  <a:cubicBezTo>
                    <a:pt x="1641480" y="0"/>
                    <a:pt x="1667754" y="26274"/>
                    <a:pt x="1667754" y="58686"/>
                  </a:cubicBezTo>
                  <a:lnTo>
                    <a:pt x="1667754" y="297985"/>
                  </a:lnTo>
                  <a:cubicBezTo>
                    <a:pt x="1667754" y="313549"/>
                    <a:pt x="1661571" y="328476"/>
                    <a:pt x="1650566" y="339482"/>
                  </a:cubicBezTo>
                  <a:cubicBezTo>
                    <a:pt x="1639560" y="350488"/>
                    <a:pt x="1624633" y="356671"/>
                    <a:pt x="1609069" y="356671"/>
                  </a:cubicBezTo>
                  <a:lnTo>
                    <a:pt x="58686" y="356671"/>
                  </a:lnTo>
                  <a:cubicBezTo>
                    <a:pt x="43121" y="356671"/>
                    <a:pt x="28194" y="350488"/>
                    <a:pt x="17189" y="339482"/>
                  </a:cubicBezTo>
                  <a:cubicBezTo>
                    <a:pt x="6183" y="328476"/>
                    <a:pt x="0" y="313549"/>
                    <a:pt x="0" y="297985"/>
                  </a:cubicBezTo>
                  <a:lnTo>
                    <a:pt x="0" y="58686"/>
                  </a:lnTo>
                  <a:cubicBezTo>
                    <a:pt x="0" y="43121"/>
                    <a:pt x="6183" y="28194"/>
                    <a:pt x="17189" y="17189"/>
                  </a:cubicBezTo>
                  <a:cubicBezTo>
                    <a:pt x="28194" y="6183"/>
                    <a:pt x="43121" y="0"/>
                    <a:pt x="58686" y="0"/>
                  </a:cubicBezTo>
                  <a:close/>
                </a:path>
              </a:pathLst>
            </a:custGeom>
            <a:solidFill>
              <a:srgbClr val="213A63"/>
            </a:solidFill>
            <a:ln w="19050" cap="rnd">
              <a:solidFill>
                <a:srgbClr val="222223"/>
              </a:solidFill>
              <a:prstDash val="solid"/>
              <a:round/>
            </a:ln>
          </p:spPr>
        </p:sp>
        <p:sp>
          <p:nvSpPr>
            <p:cNvPr id="6" name="TextBox 6"/>
            <p:cNvSpPr txBox="1"/>
            <p:nvPr/>
          </p:nvSpPr>
          <p:spPr>
            <a:xfrm>
              <a:off x="0" y="-38100"/>
              <a:ext cx="1667754" cy="394771"/>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0" y="1864695"/>
            <a:ext cx="5884260" cy="7544418"/>
            <a:chOff x="0" y="0"/>
            <a:chExt cx="911626" cy="1168828"/>
          </a:xfrm>
        </p:grpSpPr>
        <p:sp>
          <p:nvSpPr>
            <p:cNvPr id="8" name="Freeform 8"/>
            <p:cNvSpPr/>
            <p:nvPr/>
          </p:nvSpPr>
          <p:spPr>
            <a:xfrm>
              <a:off x="0" y="0"/>
              <a:ext cx="911626" cy="1168828"/>
            </a:xfrm>
            <a:custGeom>
              <a:avLst/>
              <a:gdLst/>
              <a:ahLst/>
              <a:cxnLst/>
              <a:rect l="l" t="t" r="r" b="b"/>
              <a:pathLst>
                <a:path w="911626" h="1168828">
                  <a:moveTo>
                    <a:pt x="0" y="0"/>
                  </a:moveTo>
                  <a:lnTo>
                    <a:pt x="911626" y="0"/>
                  </a:lnTo>
                  <a:lnTo>
                    <a:pt x="911626" y="1168828"/>
                  </a:lnTo>
                  <a:lnTo>
                    <a:pt x="0" y="1168828"/>
                  </a:lnTo>
                  <a:close/>
                </a:path>
              </a:pathLst>
            </a:custGeom>
            <a:blipFill>
              <a:blip r:embed="rId4"/>
              <a:stretch>
                <a:fillRect l="-3" r="-3"/>
              </a:stretch>
            </a:blipFill>
            <a:ln w="19050" cap="sq">
              <a:solidFill>
                <a:srgbClr val="000000"/>
              </a:solidFill>
              <a:prstDash val="solid"/>
              <a:miter/>
            </a:ln>
          </p:spPr>
        </p:sp>
      </p:grpSp>
      <p:sp>
        <p:nvSpPr>
          <p:cNvPr id="9" name="TextBox 9"/>
          <p:cNvSpPr txBox="1"/>
          <p:nvPr/>
        </p:nvSpPr>
        <p:spPr>
          <a:xfrm>
            <a:off x="6359874" y="2834272"/>
            <a:ext cx="11224962" cy="5222455"/>
          </a:xfrm>
          <a:prstGeom prst="rect">
            <a:avLst/>
          </a:prstGeom>
        </p:spPr>
        <p:txBody>
          <a:bodyPr lIns="0" tIns="0" rIns="0" bIns="0" rtlCol="0" anchor="t">
            <a:spAutoFit/>
          </a:bodyPr>
          <a:lstStyle/>
          <a:p>
            <a:pPr algn="ctr">
              <a:lnSpc>
                <a:spcPts val="4062"/>
              </a:lnSpc>
            </a:pPr>
            <a:endParaRPr dirty="0"/>
          </a:p>
          <a:p>
            <a:pPr algn="ctr">
              <a:lnSpc>
                <a:spcPts val="4062"/>
              </a:lnSpc>
            </a:pPr>
            <a:endParaRPr dirty="0"/>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Patient details are entered through the console.</a:t>
            </a:r>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Appointment details are stored and displayed.</a:t>
            </a:r>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 Prescription information is recorded for the patient.</a:t>
            </a:r>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Menu options control the flow of the program.</a:t>
            </a:r>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 Conditions help validate choices and appointment status.</a:t>
            </a:r>
          </a:p>
          <a:p>
            <a:pPr algn="ctr">
              <a:lnSpc>
                <a:spcPts val="4062"/>
              </a:lnSpc>
            </a:pPr>
            <a:r>
              <a:rPr lang="en-US" sz="2902" dirty="0">
                <a:gradFill>
                  <a:gsLst>
                    <a:gs pos="0">
                      <a:srgbClr val="000000">
                        <a:alpha val="100000"/>
                      </a:srgbClr>
                    </a:gs>
                    <a:gs pos="100000">
                      <a:srgbClr val="3533CD">
                        <a:alpha val="100000"/>
                      </a:srgbClr>
                    </a:gs>
                  </a:gsLst>
                  <a:lin ang="0"/>
                </a:gradFill>
                <a:latin typeface="Canva Sans"/>
                <a:ea typeface="Canva Sans"/>
                <a:cs typeface="Canva Sans"/>
                <a:sym typeface="Canva Sans"/>
              </a:rPr>
              <a:t>          • The project demonstrates how Java programming can solve a real-world problem</a:t>
            </a: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id="11" name="TextBox 11"/>
          <p:cNvSpPr txBox="1"/>
          <p:nvPr/>
        </p:nvSpPr>
        <p:spPr>
          <a:xfrm>
            <a:off x="6975554" y="599930"/>
            <a:ext cx="4852963" cy="529779"/>
          </a:xfrm>
          <a:prstGeom prst="rect">
            <a:avLst/>
          </a:prstGeom>
        </p:spPr>
        <p:txBody>
          <a:bodyPr lIns="0" tIns="0" rIns="0" bIns="0" rtlCol="0" anchor="t">
            <a:spAutoFit/>
          </a:bodyPr>
          <a:lstStyle/>
          <a:p>
            <a:pPr algn="ctr">
              <a:lnSpc>
                <a:spcPts val="4399"/>
              </a:lnSpc>
              <a:spcBef>
                <a:spcPct val="0"/>
              </a:spcBef>
            </a:pPr>
            <a:r>
              <a:rPr lang="en-US" sz="3142">
                <a:solidFill>
                  <a:srgbClr val="FFFFFF"/>
                </a:solidFill>
                <a:latin typeface="Canva Sans"/>
                <a:ea typeface="Canva Sans"/>
                <a:cs typeface="Canva Sans"/>
                <a:sym typeface="Canva Sans"/>
              </a:rPr>
              <a:t>Project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DCE8"/>
        </a:solidFill>
        <a:effectLst/>
      </p:bgPr>
    </p:bg>
    <p:spTree>
      <p:nvGrpSpPr>
        <p:cNvPr id="1" name=""/>
        <p:cNvGrpSpPr/>
        <p:nvPr/>
      </p:nvGrpSpPr>
      <p:grpSpPr>
        <a:xfrm>
          <a:off x="0" y="0"/>
          <a:ext cx="0" cy="0"/>
          <a:chOff x="0" y="0"/>
          <a:chExt cx="0" cy="0"/>
        </a:xfrm>
      </p:grpSpPr>
      <p:sp>
        <p:nvSpPr>
          <p:cNvPr id="2" name="Freeform 2"/>
          <p:cNvSpPr/>
          <p:nvPr/>
        </p:nvSpPr>
        <p:spPr>
          <a:xfrm rot="-196594">
            <a:off x="10498695" y="5701729"/>
            <a:ext cx="9654499" cy="5230983"/>
          </a:xfrm>
          <a:custGeom>
            <a:avLst/>
            <a:gdLst/>
            <a:ahLst/>
            <a:cxnLst/>
            <a:rect l="l" t="t" r="r" b="b"/>
            <a:pathLst>
              <a:path w="9654499" h="5230983">
                <a:moveTo>
                  <a:pt x="0" y="0"/>
                </a:moveTo>
                <a:lnTo>
                  <a:pt x="9654499" y="0"/>
                </a:lnTo>
                <a:lnTo>
                  <a:pt x="9654499" y="5230983"/>
                </a:lnTo>
                <a:lnTo>
                  <a:pt x="0" y="5230983"/>
                </a:lnTo>
                <a:lnTo>
                  <a:pt x="0" y="0"/>
                </a:lnTo>
                <a:close/>
              </a:path>
            </a:pathLst>
          </a:custGeom>
          <a:blipFill>
            <a:blip r:embed="rId2">
              <a:alphaModFix amt="39000"/>
            </a:blip>
            <a:stretch>
              <a:fillRect/>
            </a:stretch>
          </a:blipFill>
        </p:spPr>
      </p:sp>
      <p:sp>
        <p:nvSpPr>
          <p:cNvPr id="3" name="Freeform 3"/>
          <p:cNvSpPr/>
          <p:nvPr/>
        </p:nvSpPr>
        <p:spPr>
          <a:xfrm rot="248353">
            <a:off x="-2652794" y="-1506591"/>
            <a:ext cx="6777729" cy="7007051"/>
          </a:xfrm>
          <a:custGeom>
            <a:avLst/>
            <a:gdLst/>
            <a:ahLst/>
            <a:cxnLst/>
            <a:rect l="l" t="t" r="r" b="b"/>
            <a:pathLst>
              <a:path w="6777729" h="7007051">
                <a:moveTo>
                  <a:pt x="0" y="0"/>
                </a:moveTo>
                <a:lnTo>
                  <a:pt x="6777728" y="0"/>
                </a:lnTo>
                <a:lnTo>
                  <a:pt x="6777728" y="7007051"/>
                </a:lnTo>
                <a:lnTo>
                  <a:pt x="0" y="7007051"/>
                </a:lnTo>
                <a:lnTo>
                  <a:pt x="0" y="0"/>
                </a:lnTo>
                <a:close/>
              </a:path>
            </a:pathLst>
          </a:custGeom>
          <a:blipFill>
            <a:blip r:embed="rId3">
              <a:alphaModFix amt="50000"/>
            </a:blip>
            <a:stretch>
              <a:fillRect/>
            </a:stretch>
          </a:blipFill>
        </p:spPr>
      </p:sp>
      <p:grpSp>
        <p:nvGrpSpPr>
          <p:cNvPr id="4" name="Group 4"/>
          <p:cNvGrpSpPr/>
          <p:nvPr/>
        </p:nvGrpSpPr>
        <p:grpSpPr>
          <a:xfrm>
            <a:off x="6575955" y="542553"/>
            <a:ext cx="5136090" cy="502090"/>
            <a:chOff x="0" y="0"/>
            <a:chExt cx="1352715" cy="132238"/>
          </a:xfrm>
        </p:grpSpPr>
        <p:sp>
          <p:nvSpPr>
            <p:cNvPr id="5" name="Freeform 5"/>
            <p:cNvSpPr/>
            <p:nvPr/>
          </p:nvSpPr>
          <p:spPr>
            <a:xfrm>
              <a:off x="0" y="0"/>
              <a:ext cx="1352715" cy="132238"/>
            </a:xfrm>
            <a:custGeom>
              <a:avLst/>
              <a:gdLst/>
              <a:ahLst/>
              <a:cxnLst/>
              <a:rect l="l" t="t" r="r" b="b"/>
              <a:pathLst>
                <a:path w="1352715" h="132238">
                  <a:moveTo>
                    <a:pt x="66119" y="0"/>
                  </a:moveTo>
                  <a:lnTo>
                    <a:pt x="1286596" y="0"/>
                  </a:lnTo>
                  <a:cubicBezTo>
                    <a:pt x="1323113" y="0"/>
                    <a:pt x="1352715" y="29602"/>
                    <a:pt x="1352715" y="66119"/>
                  </a:cubicBezTo>
                  <a:lnTo>
                    <a:pt x="1352715" y="66119"/>
                  </a:lnTo>
                  <a:cubicBezTo>
                    <a:pt x="1352715" y="102635"/>
                    <a:pt x="1323113" y="132238"/>
                    <a:pt x="1286596" y="132238"/>
                  </a:cubicBezTo>
                  <a:lnTo>
                    <a:pt x="66119" y="132238"/>
                  </a:lnTo>
                  <a:cubicBezTo>
                    <a:pt x="29602" y="132238"/>
                    <a:pt x="0" y="102635"/>
                    <a:pt x="0" y="66119"/>
                  </a:cubicBezTo>
                  <a:lnTo>
                    <a:pt x="0" y="66119"/>
                  </a:lnTo>
                  <a:cubicBezTo>
                    <a:pt x="0" y="29602"/>
                    <a:pt x="29602" y="0"/>
                    <a:pt x="66119" y="0"/>
                  </a:cubicBezTo>
                  <a:close/>
                </a:path>
              </a:pathLst>
            </a:custGeom>
            <a:solidFill>
              <a:srgbClr val="213A63"/>
            </a:solidFill>
            <a:ln w="19050" cap="rnd">
              <a:solidFill>
                <a:srgbClr val="222223"/>
              </a:solidFill>
              <a:prstDash val="solid"/>
              <a:round/>
            </a:ln>
          </p:spPr>
        </p:sp>
        <p:sp>
          <p:nvSpPr>
            <p:cNvPr id="6" name="TextBox 6"/>
            <p:cNvSpPr txBox="1"/>
            <p:nvPr/>
          </p:nvSpPr>
          <p:spPr>
            <a:xfrm>
              <a:off x="0" y="-38100"/>
              <a:ext cx="1352715" cy="170338"/>
            </a:xfrm>
            <a:prstGeom prst="rect">
              <a:avLst/>
            </a:prstGeom>
          </p:spPr>
          <p:txBody>
            <a:bodyPr lIns="50800" tIns="50800" rIns="50800" bIns="50800" rtlCol="0" anchor="ctr"/>
            <a:lstStyle/>
            <a:p>
              <a:pPr marL="0" lvl="0" indent="0" algn="ctr">
                <a:lnSpc>
                  <a:spcPts val="2659"/>
                </a:lnSpc>
              </a:pPr>
              <a:endParaRPr/>
            </a:p>
          </p:txBody>
        </p:sp>
      </p:grpSp>
      <p:sp>
        <p:nvSpPr>
          <p:cNvPr id="7" name="TextBox 7"/>
          <p:cNvSpPr txBox="1"/>
          <p:nvPr/>
        </p:nvSpPr>
        <p:spPr>
          <a:xfrm>
            <a:off x="6597588" y="605059"/>
            <a:ext cx="5114456" cy="339013"/>
          </a:xfrm>
          <a:prstGeom prst="rect">
            <a:avLst/>
          </a:prstGeom>
        </p:spPr>
        <p:txBody>
          <a:bodyPr lIns="0" tIns="0" rIns="0" bIns="0" rtlCol="0" anchor="t">
            <a:spAutoFit/>
          </a:bodyPr>
          <a:lstStyle/>
          <a:p>
            <a:pPr marL="0" lvl="0" indent="0" algn="ctr">
              <a:lnSpc>
                <a:spcPts val="2839"/>
              </a:lnSpc>
            </a:pPr>
            <a:r>
              <a:rPr lang="en-US" sz="2028" b="1" spc="-95">
                <a:solidFill>
                  <a:srgbClr val="FFFFFF"/>
                </a:solidFill>
                <a:latin typeface="DM Sans Bold"/>
                <a:ea typeface="DM Sans Bold"/>
                <a:cs typeface="DM Sans Bold"/>
                <a:sym typeface="DM Sans Bold"/>
              </a:rPr>
              <a:t>Clinic Appointment &amp; Prescription Manager</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9" name="TextBox 9"/>
          <p:cNvSpPr txBox="1"/>
          <p:nvPr/>
        </p:nvSpPr>
        <p:spPr>
          <a:xfrm>
            <a:off x="1028700" y="1380691"/>
            <a:ext cx="14460688" cy="6906551"/>
          </a:xfrm>
          <a:prstGeom prst="rect">
            <a:avLst/>
          </a:prstGeom>
        </p:spPr>
        <p:txBody>
          <a:bodyPr lIns="0" tIns="0" rIns="0" bIns="0" rtlCol="0" anchor="t">
            <a:spAutoFit/>
          </a:bodyPr>
          <a:lstStyle/>
          <a:p>
            <a:pPr algn="ctr">
              <a:lnSpc>
                <a:spcPts val="4981"/>
              </a:lnSpc>
            </a:pPr>
            <a:r>
              <a:rPr lang="en-US" sz="3557" b="1">
                <a:solidFill>
                  <a:srgbClr val="000000"/>
                </a:solidFill>
                <a:latin typeface="Canva Sans Bold"/>
                <a:ea typeface="Canva Sans Bold"/>
                <a:cs typeface="Canva Sans Bold"/>
                <a:sym typeface="Canva Sans Bold"/>
              </a:rPr>
              <a:t>Geo-tag Photo and GitHub Link</a:t>
            </a: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r>
              <a:rPr lang="en-US" sz="3557" b="1">
                <a:solidFill>
                  <a:srgbClr val="000000"/>
                </a:solidFill>
                <a:latin typeface="Canva Sans Bold"/>
                <a:ea typeface="Canva Sans Bold"/>
                <a:cs typeface="Canva Sans Bold"/>
                <a:sym typeface="Canva Sans Bold"/>
              </a:rPr>
              <a:t>GITHUB LINK</a:t>
            </a:r>
          </a:p>
          <a:p>
            <a:pPr algn="ctr">
              <a:lnSpc>
                <a:spcPts val="4981"/>
              </a:lnSpc>
            </a:pPr>
            <a:r>
              <a:rPr lang="en-US" sz="3557" b="1">
                <a:solidFill>
                  <a:srgbClr val="000000"/>
                </a:solidFill>
                <a:latin typeface="Canva Sans Bold"/>
                <a:ea typeface="Canva Sans Bold"/>
                <a:cs typeface="Canva Sans Bold"/>
                <a:sym typeface="Canva Sans Bold"/>
              </a:rPr>
              <a:t>https://github.com/vaishnavikolli471-png/JAVA-PROJECT-SEC-11-CLUSTER-3-PROJECT-8 </a:t>
            </a: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endParaRPr lang="en-US" sz="3557" b="1">
              <a:solidFill>
                <a:srgbClr val="000000"/>
              </a:solidFill>
              <a:latin typeface="Canva Sans Bold"/>
              <a:ea typeface="Canva Sans Bold"/>
              <a:cs typeface="Canva Sans Bold"/>
              <a:sym typeface="Canva Sans Bold"/>
            </a:endParaRPr>
          </a:p>
          <a:p>
            <a:pPr algn="ctr">
              <a:lnSpc>
                <a:spcPts val="4981"/>
              </a:lnSpc>
            </a:pPr>
            <a:endParaRPr lang="en-US" sz="3557" b="1">
              <a:solidFill>
                <a:srgbClr val="000000"/>
              </a:solidFill>
              <a:latin typeface="Canva Sans Bold"/>
              <a:ea typeface="Canva Sans Bold"/>
              <a:cs typeface="Canva Sans Bold"/>
              <a:sym typeface="Canva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FB665A-72DD-5798-75AC-1DC93F1DB8BA}"/>
              </a:ext>
            </a:extLst>
          </p:cNvPr>
          <p:cNvPicPr>
            <a:picLocks noChangeAspect="1"/>
          </p:cNvPicPr>
          <p:nvPr/>
        </p:nvPicPr>
        <p:blipFill>
          <a:blip r:embed="rId2"/>
          <a:stretch>
            <a:fillRect/>
          </a:stretch>
        </p:blipFill>
        <p:spPr>
          <a:xfrm>
            <a:off x="0" y="1333500"/>
            <a:ext cx="18683287" cy="8953500"/>
          </a:xfrm>
          <a:prstGeom prst="rect">
            <a:avLst/>
          </a:prstGeom>
        </p:spPr>
      </p:pic>
      <p:sp>
        <p:nvSpPr>
          <p:cNvPr id="2" name="Rectangle: Rounded Corners 1">
            <a:extLst>
              <a:ext uri="{FF2B5EF4-FFF2-40B4-BE49-F238E27FC236}">
                <a16:creationId xmlns:a16="http://schemas.microsoft.com/office/drawing/2014/main" id="{0A532CC6-CFC3-1518-C216-75A60F053FC4}"/>
              </a:ext>
            </a:extLst>
          </p:cNvPr>
          <p:cNvSpPr/>
          <p:nvPr/>
        </p:nvSpPr>
        <p:spPr>
          <a:xfrm>
            <a:off x="2514600" y="266700"/>
            <a:ext cx="8305800" cy="914400"/>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dirty="0">
                <a:solidFill>
                  <a:schemeClr val="bg1"/>
                </a:solidFill>
                <a:latin typeface="Arial Black" panose="020B0A04020102020204" pitchFamily="34" charset="0"/>
              </a:rPr>
              <a:t>GEOTAG</a:t>
            </a:r>
          </a:p>
        </p:txBody>
      </p:sp>
    </p:spTree>
    <p:extLst>
      <p:ext uri="{BB962C8B-B14F-4D97-AF65-F5344CB8AC3E}">
        <p14:creationId xmlns:p14="http://schemas.microsoft.com/office/powerpoint/2010/main" val="1036741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ank You Card - Healthcare Workers Front">
            <a:extLst>
              <a:ext uri="{FF2B5EF4-FFF2-40B4-BE49-F238E27FC236}">
                <a16:creationId xmlns:a16="http://schemas.microsoft.com/office/drawing/2014/main" id="{71C182F2-6459-E5C2-C5F5-8654D020F4CF}"/>
              </a:ext>
            </a:extLst>
          </p:cNvPr>
          <p:cNvPicPr>
            <a:picLocks noChangeAspect="1"/>
          </p:cNvPicPr>
          <p:nvPr/>
        </p:nvPicPr>
        <p:blipFill>
          <a:blip r:embed="rId2"/>
          <a:stretch>
            <a:fillRect/>
          </a:stretch>
        </p:blipFill>
        <p:spPr>
          <a:xfrm>
            <a:off x="0" y="0"/>
            <a:ext cx="18516600" cy="11087100"/>
          </a:xfrm>
          <a:prstGeom prst="rect">
            <a:avLst/>
          </a:prstGeom>
        </p:spPr>
      </p:pic>
    </p:spTree>
    <p:extLst>
      <p:ext uri="{BB962C8B-B14F-4D97-AF65-F5344CB8AC3E}">
        <p14:creationId xmlns:p14="http://schemas.microsoft.com/office/powerpoint/2010/main" val="347160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402</Words>
  <Application>Microsoft Office PowerPoint</Application>
  <PresentationFormat>Custom</PresentationFormat>
  <Paragraphs>72</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Open Sans</vt:lpstr>
      <vt:lpstr>Arial</vt:lpstr>
      <vt:lpstr>Helvetica World Bold</vt:lpstr>
      <vt:lpstr>Calibri</vt:lpstr>
      <vt:lpstr>DM Sans Bold</vt:lpstr>
      <vt:lpstr>Canva Sans</vt:lpstr>
      <vt:lpstr>Helvetica World</vt:lpstr>
      <vt:lpstr>Canva Sans Bold</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 Appointment and Prescription Manager</dc:title>
  <cp:lastModifiedBy>kollivaishnavi49@outlook.com</cp:lastModifiedBy>
  <cp:revision>5</cp:revision>
  <dcterms:created xsi:type="dcterms:W3CDTF">2006-08-16T00:00:00Z</dcterms:created>
  <dcterms:modified xsi:type="dcterms:W3CDTF">2026-09-22T07:33:12Z</dcterms:modified>
  <dc:identifier>DAHVVdEAcrM</dc:identifier>
</cp:coreProperties>
</file>